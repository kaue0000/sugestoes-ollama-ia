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2f80896dcc491fda_0_1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h2f80896dcc491fda_0_1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h2f80896dcc491fda_0_1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h2f80896dcc491fda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h2f80896dcc491fda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h2f80896dcc491fda_0_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h2f80896dcc491fda_0_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h2f80896dcc491fda_0_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h2f80896dcc491fda_0_7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h2f80896dcc491fda_0_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h2f80896dcc491fda_0_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h2f80896dcc491fda_0_8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h2f80896dcc491fda_0_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h2f80896dcc491fda_0_8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h2f80896dcc491fda_0_8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h2f80896dcc491fda_0_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h2f80896dcc491fda_0_9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h2f80896dcc491fda_0_9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h2f80896dcc491fda_0_1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h2f80896dcc491fda_0_1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h2f80896dcc491fda_0_1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h2f80896dcc491fda_0_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h2f80896dcc491fda_0_1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h2f80896dcc491fda_0_1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h2f80896dcc491fda_0_1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4" name="Google Shape;314;h2f80896dcc491fda_0_1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h2f80896dcc491fda_0_1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2f80896dcc491fda_0_1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h2f80896dcc491fda_0_1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h2f80896dcc491fda_0_15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h2f80896dcc491fda_0_1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h2f80896dcc491fda_0_1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h2f80896dcc491fda_0_16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138160" y="-1188720"/>
            <a:ext cx="5120640" cy="512064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601200" y="3840480"/>
            <a:ext cx="3291840" cy="329184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548640" y="8229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ENCONTRO 12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37160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Evolução do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Atendimento com IA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40" y="3246120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Uma nova funcionalidade com LLM local, segurança e testes automatizados.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4434840"/>
            <a:ext cx="6035040" cy="1325880"/>
          </a:xfrm>
          <a:prstGeom prst="roundRect">
            <a:avLst>
              <a:gd fmla="val 1379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868680" y="461772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FEATURE IMPLEMENTADA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868680" y="489204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Sugestão de resposta ao chamado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868680" y="5349240"/>
            <a:ext cx="5394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AAB4C8"/>
                </a:solidFill>
              </a:rPr>
              <a:t>Kauê Adriano</a:t>
            </a: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  •  </a:t>
            </a:r>
            <a:r>
              <a:rPr lang="en-US" sz="1100">
                <a:solidFill>
                  <a:srgbClr val="FCFCFC"/>
                </a:solidFill>
              </a:rPr>
              <a:t>Rônald Willy</a:t>
            </a: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1300">
                <a:solidFill>
                  <a:srgbClr val="AAB4C8"/>
                </a:solidFill>
              </a:rPr>
              <a:t>TSI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desafio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Por que evoluir o sistema existente?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48640" y="1737360"/>
            <a:ext cx="5440680" cy="4206240"/>
          </a:xfrm>
          <a:prstGeom prst="roundRect">
            <a:avLst>
              <a:gd fmla="val 434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 txBox="1"/>
          <p:nvPr/>
        </p:nvSpPr>
        <p:spPr>
          <a:xfrm>
            <a:off x="914400" y="201168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Cenário atual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914400" y="260604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sistema já classifica chamados em 5 categorias: Acesso, Financeiro, Matrícula, Documentos e Outros.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Cada resposta ao solicitante ainda é escrita do zero pelo atendente.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Chamados chegam longos, incompletos ou com pedidos indevidos.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Senhas, tokens e códigos podem aparecer no texto enviado.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199632" y="1737360"/>
            <a:ext cx="5440680" cy="4206240"/>
          </a:xfrm>
          <a:prstGeom prst="roundRect">
            <a:avLst>
              <a:gd fmla="val 434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 txBox="1"/>
          <p:nvPr/>
        </p:nvSpPr>
        <p:spPr>
          <a:xfrm>
            <a:off x="6565392" y="201168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Oportunidade com IA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6565392" y="260604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Gerar um rascunho de resposta com um LLM local (Ollama).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texto do chamado não sai da infraestrutura local.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atendente continua revisando antes de enviar.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Evoluir sem quebrar o endpoint legado de classificação.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Nossa solução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Uma feature independente, integrada ao backend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548640" y="1737360"/>
            <a:ext cx="3108960" cy="868680"/>
          </a:xfrm>
          <a:prstGeom prst="roundRect">
            <a:avLst>
              <a:gd fmla="val 2105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5"/>
          <p:cNvSpPr txBox="1"/>
          <p:nvPr/>
        </p:nvSpPr>
        <p:spPr>
          <a:xfrm>
            <a:off x="548640" y="173736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Chamado do usuário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3657600" y="1737360"/>
            <a:ext cx="88239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539996" y="1737360"/>
            <a:ext cx="3108960" cy="868680"/>
          </a:xfrm>
          <a:prstGeom prst="roundRect">
            <a:avLst>
              <a:gd fmla="val 2105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 txBox="1"/>
          <p:nvPr/>
        </p:nvSpPr>
        <p:spPr>
          <a:xfrm>
            <a:off x="4539996" y="173736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Backend (NestJS)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7648956" y="1737360"/>
            <a:ext cx="88239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8531352" y="1737360"/>
            <a:ext cx="3108960" cy="868680"/>
          </a:xfrm>
          <a:prstGeom prst="roundRect">
            <a:avLst>
              <a:gd fmla="val 2105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 txBox="1"/>
          <p:nvPr/>
        </p:nvSpPr>
        <p:spPr>
          <a:xfrm>
            <a:off x="8531352" y="173736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Ollama + LLM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8640" y="2926080"/>
            <a:ext cx="3514344" cy="306324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 txBox="1"/>
          <p:nvPr/>
        </p:nvSpPr>
        <p:spPr>
          <a:xfrm>
            <a:off x="822960" y="315468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1  Validar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 txBox="1"/>
          <p:nvPr/>
        </p:nvSpPr>
        <p:spPr>
          <a:xfrm>
            <a:off x="822960" y="3703320"/>
            <a:ext cx="296570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Texto de 10 a 2000 caracteres; campos extras são recusados.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Senhas, tokens e códigos são mascarados antes do modelo.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chamado vai delimitado por &lt;chamado&gt;.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4337304" y="2926080"/>
            <a:ext cx="3514344" cy="306324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 txBox="1"/>
          <p:nvPr/>
        </p:nvSpPr>
        <p:spPr>
          <a:xfrm>
            <a:off x="4611624" y="315468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2  Analisar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4611624" y="3703320"/>
            <a:ext cx="296570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llama3.2 executa localmente via Ollama.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Saída solicitada em formato JSON.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Regras e exemplos do prompt ficam só no backend.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125968" y="2926080"/>
            <a:ext cx="3514344" cy="306324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5"/>
          <p:cNvSpPr txBox="1"/>
          <p:nvPr/>
        </p:nvSpPr>
        <p:spPr>
          <a:xfrm>
            <a:off x="8400288" y="315468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3  Responder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8400288" y="3703320"/>
            <a:ext cx="296570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 o JSON e o conteúdo do rascunho.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Bloqueia promessas, aprovações, credenciais e links.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Entrega só o contrato: status RASCUNHO.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6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Arquitetura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O cliente nunca chama o Ollama diretamente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548640" y="1737360"/>
            <a:ext cx="3108960" cy="1234440"/>
          </a:xfrm>
          <a:prstGeom prst="roundRect">
            <a:avLst>
              <a:gd fmla="val 14815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 txBox="1"/>
          <p:nvPr/>
        </p:nvSpPr>
        <p:spPr>
          <a:xfrm>
            <a:off x="548640" y="187452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 txBox="1"/>
          <p:nvPr/>
        </p:nvSpPr>
        <p:spPr>
          <a:xfrm>
            <a:off x="548640" y="2176272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Frontend Angular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548640" y="26060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AAB4C8"/>
                </a:solidFill>
                <a:latin typeface="Courier New"/>
                <a:ea typeface="Courier New"/>
                <a:cs typeface="Courier New"/>
                <a:sym typeface="Courier New"/>
              </a:rPr>
              <a:t>localhost:4200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 txBox="1"/>
          <p:nvPr/>
        </p:nvSpPr>
        <p:spPr>
          <a:xfrm>
            <a:off x="3657600" y="1737360"/>
            <a:ext cx="882396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4539996" y="1737360"/>
            <a:ext cx="3108960" cy="1234440"/>
          </a:xfrm>
          <a:prstGeom prst="roundRect">
            <a:avLst>
              <a:gd fmla="val 14815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"/>
          <p:cNvSpPr txBox="1"/>
          <p:nvPr/>
        </p:nvSpPr>
        <p:spPr>
          <a:xfrm>
            <a:off x="4539996" y="187452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BACKEND / API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 txBox="1"/>
          <p:nvPr/>
        </p:nvSpPr>
        <p:spPr>
          <a:xfrm>
            <a:off x="4539996" y="2176272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NestJS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4539996" y="26060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AAB4C8"/>
                </a:solidFill>
                <a:latin typeface="Courier New"/>
                <a:ea typeface="Courier New"/>
                <a:cs typeface="Courier New"/>
                <a:sym typeface="Courier New"/>
              </a:rPr>
              <a:t>localhost:3000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648956" y="1737360"/>
            <a:ext cx="882396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8531352" y="1737360"/>
            <a:ext cx="3108960" cy="1234440"/>
          </a:xfrm>
          <a:prstGeom prst="roundRect">
            <a:avLst>
              <a:gd fmla="val 14815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 txBox="1"/>
          <p:nvPr/>
        </p:nvSpPr>
        <p:spPr>
          <a:xfrm>
            <a:off x="8531352" y="187452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OLLAMA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 txBox="1"/>
          <p:nvPr/>
        </p:nvSpPr>
        <p:spPr>
          <a:xfrm>
            <a:off x="8531352" y="2176272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llama3.2:latest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 txBox="1"/>
          <p:nvPr/>
        </p:nvSpPr>
        <p:spPr>
          <a:xfrm>
            <a:off x="8531352" y="26060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AAB4C8"/>
                </a:solidFill>
                <a:latin typeface="Courier New"/>
                <a:ea typeface="Courier New"/>
                <a:cs typeface="Courier New"/>
                <a:sym typeface="Courier New"/>
              </a:rPr>
              <a:t>localhost:11434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548640" y="3291840"/>
            <a:ext cx="3514344" cy="2697480"/>
          </a:xfrm>
          <a:prstGeom prst="roundRect">
            <a:avLst>
              <a:gd fmla="val 678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 txBox="1"/>
          <p:nvPr/>
        </p:nvSpPr>
        <p:spPr>
          <a:xfrm>
            <a:off x="822960" y="35204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/>
          <p:nvPr/>
        </p:nvSpPr>
        <p:spPr>
          <a:xfrm>
            <a:off x="822960" y="4023360"/>
            <a:ext cx="2965704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Chat que exibe o rascunho e o status.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Lista as informações adicionais necessárias.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Mensagens de erro por tipo de falha.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4337304" y="3291840"/>
            <a:ext cx="3514344" cy="2697480"/>
          </a:xfrm>
          <a:prstGeom prst="roundRect">
            <a:avLst>
              <a:gd fmla="val 678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 txBox="1"/>
          <p:nvPr/>
        </p:nvSpPr>
        <p:spPr>
          <a:xfrm>
            <a:off x="4611624" y="35204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4611624" y="4023360"/>
            <a:ext cx="2965704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Controller → Service → ModeloProvider.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Guards, prompts e validação de saída.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CORS restrito ao frontend local.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8125968" y="3291840"/>
            <a:ext cx="3514344" cy="2697480"/>
          </a:xfrm>
          <a:prstGeom prst="roundRect">
            <a:avLst>
              <a:gd fmla="val 678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 txBox="1"/>
          <p:nvPr/>
        </p:nvSpPr>
        <p:spPr>
          <a:xfrm>
            <a:off x="8400288" y="35204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Ollama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8400288" y="4023360"/>
            <a:ext cx="2965704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LLM executada localmente (/api/chat).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Timeout configurável (padrão 30 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Sem acesso direto do cliente.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7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Contrato da API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Exemplo de requisição e resposta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548640" y="1737360"/>
            <a:ext cx="4480560" cy="2606040"/>
          </a:xfrm>
          <a:prstGeom prst="roundRect">
            <a:avLst>
              <a:gd fmla="val 701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 txBox="1"/>
          <p:nvPr/>
        </p:nvSpPr>
        <p:spPr>
          <a:xfrm>
            <a:off x="822960" y="192024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POST /chamados/sugerir-resposta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822960" y="23317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 txBox="1"/>
          <p:nvPr/>
        </p:nvSpPr>
        <p:spPr>
          <a:xfrm>
            <a:off x="822960" y="2697480"/>
            <a:ext cx="40233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"texto"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"Não consigo acessar o portal."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5330952" y="1737360"/>
            <a:ext cx="6309360" cy="2606040"/>
          </a:xfrm>
          <a:prstGeom prst="roundRect">
            <a:avLst>
              <a:gd fmla="val 701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5605272" y="19202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Resposta 200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5605272" y="23317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Saída validada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5605272" y="2697480"/>
            <a:ext cx="585216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"texto"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"Não consigo acessar o portal."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"rascunho"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"Olá. Reconhecemos a dificuldade de acesso."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"informacoesAdicionais"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[],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"revisaoHumanaObrigatoria"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FFB050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"modelo"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"llama3.2:latest"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"status"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"RASCUNHO"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548640" y="475488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Falhas tratadas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548640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 txBox="1"/>
          <p:nvPr/>
        </p:nvSpPr>
        <p:spPr>
          <a:xfrm>
            <a:off x="548640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50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FFB050"/>
                </a:solidFill>
                <a:latin typeface="Courier New"/>
                <a:ea typeface="Courier New"/>
                <a:cs typeface="Courier New"/>
                <a:sym typeface="Courier New"/>
              </a:rPr>
              <a:t>400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entrada inválida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3390138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 txBox="1"/>
          <p:nvPr/>
        </p:nvSpPr>
        <p:spPr>
          <a:xfrm>
            <a:off x="3390138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5F78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FF5F78"/>
                </a:solidFill>
                <a:latin typeface="Courier New"/>
                <a:ea typeface="Courier New"/>
                <a:cs typeface="Courier New"/>
                <a:sym typeface="Courier New"/>
              </a:rPr>
              <a:t>502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saída rejeitada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6231636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 txBox="1"/>
          <p:nvPr/>
        </p:nvSpPr>
        <p:spPr>
          <a:xfrm>
            <a:off x="6231636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9B6EFF"/>
                </a:solidFill>
                <a:latin typeface="Courier New"/>
                <a:ea typeface="Courier New"/>
                <a:cs typeface="Courier New"/>
                <a:sym typeface="Courier New"/>
              </a:rPr>
              <a:t>503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IA indisponível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9073134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 txBox="1"/>
          <p:nvPr/>
        </p:nvSpPr>
        <p:spPr>
          <a:xfrm>
            <a:off x="9073134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504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tempo esgotado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Segurança por design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A saída da IA é tratada como conteúdo não confiável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1691640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777240" y="1847088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 txBox="1"/>
          <p:nvPr/>
        </p:nvSpPr>
        <p:spPr>
          <a:xfrm>
            <a:off x="777240" y="184708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1463040" y="169164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Validação de entrada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4572000" y="1691640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DTO exige 10 a 2000 caracteres; campos desconhecidos são recusados (whitelist).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548640" y="2542032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777240" y="2697480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 txBox="1"/>
          <p:nvPr/>
        </p:nvSpPr>
        <p:spPr>
          <a:xfrm>
            <a:off x="777240" y="269748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1463040" y="254203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Dados sensíveis mascarados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4572000" y="2542032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Senha, token e códigos viram [DADO SENSÍVEL OMITIDO] antes de chegar ao modelo.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548640" y="3392424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777240" y="3547872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50DC9B"/>
          </a:solidFill>
          <a:ln cap="flat" cmpd="sng" w="12700">
            <a:solidFill>
              <a:srgbClr val="50DC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777240" y="35478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 txBox="1"/>
          <p:nvPr/>
        </p:nvSpPr>
        <p:spPr>
          <a:xfrm>
            <a:off x="1463040" y="339242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System prompt protegido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 txBox="1"/>
          <p:nvPr/>
        </p:nvSpPr>
        <p:spPr>
          <a:xfrm>
            <a:off x="4572000" y="3392424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Regras e exemplos ficam no backend; o cliente envia apenas o texto do chamado.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548640" y="4242816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777240" y="4398264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FFB050"/>
          </a:solidFill>
          <a:ln cap="flat" cmpd="sng" w="12700">
            <a:solidFill>
              <a:srgbClr val="FFB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 txBox="1"/>
          <p:nvPr/>
        </p:nvSpPr>
        <p:spPr>
          <a:xfrm>
            <a:off x="777240" y="439826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1463040" y="424281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Prompt Injection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 txBox="1"/>
          <p:nvPr/>
        </p:nvSpPr>
        <p:spPr>
          <a:xfrm>
            <a:off x="4572000" y="4242816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Chamado delimitado como dado não confiável; tags de fechamento são removidas do texto.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548640" y="5093208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777240" y="5248656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FF5F78"/>
          </a:solidFill>
          <a:ln cap="flat" cmpd="sng" w="12700">
            <a:solidFill>
              <a:srgbClr val="FF5F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777240" y="52486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1463040" y="509320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Validação da saída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 txBox="1"/>
          <p:nvPr/>
        </p:nvSpPr>
        <p:spPr>
          <a:xfrm>
            <a:off x="4572000" y="5093208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JSON estrito, máx. 3 informações, revisão humana; bloqueia prazo, aprovação, credencial e link.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Independência e legado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Adicionar sem quebrar o que já funciona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548640" y="169164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6199632" y="169164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DEPOIS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548640" y="2011680"/>
            <a:ext cx="5440680" cy="777240"/>
          </a:xfrm>
          <a:prstGeom prst="roundRect">
            <a:avLst>
              <a:gd fmla="val 23529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9"/>
          <p:cNvSpPr txBox="1"/>
          <p:nvPr/>
        </p:nvSpPr>
        <p:spPr>
          <a:xfrm>
            <a:off x="548640" y="2011680"/>
            <a:ext cx="5440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Chamado  →  Classificação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6199632" y="2011680"/>
            <a:ext cx="5440680" cy="777240"/>
          </a:xfrm>
          <a:prstGeom prst="roundRect">
            <a:avLst>
              <a:gd fmla="val 23529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 txBox="1"/>
          <p:nvPr/>
        </p:nvSpPr>
        <p:spPr>
          <a:xfrm>
            <a:off x="6199632" y="2011680"/>
            <a:ext cx="5440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Chamado  →  Classificação  +  Sugestão de resposta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 txBox="1"/>
          <p:nvPr/>
        </p:nvSpPr>
        <p:spPr>
          <a:xfrm>
            <a:off x="6199632" y="2926080"/>
            <a:ext cx="5440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↳ /chamados/classificar continua funcionando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548640" y="3520440"/>
            <a:ext cx="3514344" cy="2468880"/>
          </a:xfrm>
          <a:prstGeom prst="roundRect">
            <a:avLst>
              <a:gd fmla="val 740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9"/>
          <p:cNvSpPr txBox="1"/>
          <p:nvPr/>
        </p:nvSpPr>
        <p:spPr>
          <a:xfrm>
            <a:off x="822960" y="37490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Sem dependências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822960" y="4297680"/>
            <a:ext cx="2965704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Rota própria: /chamados/sugerir-resposta.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Prompt, DTO e validações em arquivos novos.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4337304" y="3520440"/>
            <a:ext cx="3514344" cy="2468880"/>
          </a:xfrm>
          <a:prstGeom prst="roundRect">
            <a:avLst>
              <a:gd fmla="val 740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 txBox="1"/>
          <p:nvPr/>
        </p:nvSpPr>
        <p:spPr>
          <a:xfrm>
            <a:off x="4611624" y="37490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Mudança mínima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4611624" y="4297680"/>
            <a:ext cx="2965704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Provider ganhou só o campo opcional format.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Reaproveita módulo e provider de IA.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8125968" y="3520440"/>
            <a:ext cx="3514344" cy="2468880"/>
          </a:xfrm>
          <a:prstGeom prst="roundRect">
            <a:avLst>
              <a:gd fmla="val 740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8400288" y="37490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Legado preservado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8400288" y="4297680"/>
            <a:ext cx="2965704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Classificação e /ia/responder intactos.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Testes da classificação seguem passando.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0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Testes automatizados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Do código isolado ao modelo real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548640" y="1737360"/>
            <a:ext cx="5440680" cy="3611880"/>
          </a:xfrm>
          <a:prstGeom prst="roundRect">
            <a:avLst>
              <a:gd fmla="val 506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"/>
          <p:cNvSpPr txBox="1"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Testes unitários (Jest)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2560320"/>
            <a:ext cx="475488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Mocks do provider: nenhuma IA real é chamada.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700">
                <a:solidFill>
                  <a:srgbClr val="F5F7FC"/>
                </a:solidFill>
              </a:rPr>
              <a:t>3</a:t>
            </a: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 testes passando no</a:t>
            </a:r>
            <a:r>
              <a:rPr lang="en-US" sz="1700">
                <a:solidFill>
                  <a:srgbClr val="F5F7FC"/>
                </a:solidFill>
              </a:rPr>
              <a:t> backend (5 suítes)</a:t>
            </a: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Saídas válidas e inválidas do modelo simuladas.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Regras testadas: prazo, aprovação, credencial, link, JSON inválido e limite de 3 itens.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6199632" y="1737360"/>
            <a:ext cx="5440680" cy="3611880"/>
          </a:xfrm>
          <a:prstGeom prst="roundRect">
            <a:avLst>
              <a:gd fmla="val 506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 txBox="1"/>
          <p:nvPr/>
        </p:nvSpPr>
        <p:spPr>
          <a:xfrm>
            <a:off x="6565392" y="196596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Avaliação com Ollama real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6565392" y="2560320"/>
            <a:ext cx="475488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Ollama com llama3.2 respondendo ao POST /chamados/sugerir-resposta.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Os 5 cenários obrigatórios executados no Postman.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Evidência: a resposta real de cada cenário.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A saída do modelo varia, então se verifica o contrato e as regras, e não o texto exato.</a:t>
            </a:r>
            <a:endParaRPr sz="1700">
              <a:solidFill>
                <a:schemeClr val="lt1"/>
              </a:solidFill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548640" y="5669280"/>
            <a:ext cx="101772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Objetivo: garantir comportamento previsível mesmo diante de respostas inesperadas do modelo.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1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1"/>
          <p:cNvSpPr/>
          <p:nvPr/>
        </p:nvSpPr>
        <p:spPr>
          <a:xfrm>
            <a:off x="11430130" y="61767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6" name="Google Shape;206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100" y="678243"/>
            <a:ext cx="11279795" cy="55015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2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2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Execução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2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Do .env à API no ar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"/>
          <p:cNvSpPr/>
          <p:nvPr/>
        </p:nvSpPr>
        <p:spPr>
          <a:xfrm>
            <a:off x="550238" y="1739100"/>
            <a:ext cx="3514200" cy="337980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2"/>
          <p:cNvSpPr txBox="1"/>
          <p:nvPr/>
        </p:nvSpPr>
        <p:spPr>
          <a:xfrm>
            <a:off x="824410" y="2137055"/>
            <a:ext cx="296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Subir ambiente(</a:t>
            </a:r>
            <a:r>
              <a:rPr b="1" lang="en-US" sz="2000">
                <a:solidFill>
                  <a:srgbClr val="44D3FF"/>
                </a:solidFill>
              </a:rPr>
              <a:t>Docker)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824413" y="2858399"/>
            <a:ext cx="2965800" cy="18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Ollama com llama3.2 ativo.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API NestJS em localhost:3000.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Frontend com npm start (:4200).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2"/>
          <p:cNvSpPr/>
          <p:nvPr/>
        </p:nvSpPr>
        <p:spPr>
          <a:xfrm>
            <a:off x="4338900" y="1739100"/>
            <a:ext cx="3514200" cy="337980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2"/>
          <p:cNvSpPr txBox="1"/>
          <p:nvPr/>
        </p:nvSpPr>
        <p:spPr>
          <a:xfrm>
            <a:off x="4613074" y="2137055"/>
            <a:ext cx="296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Testar API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2"/>
          <p:cNvSpPr txBox="1"/>
          <p:nvPr/>
        </p:nvSpPr>
        <p:spPr>
          <a:xfrm>
            <a:off x="4613087" y="2858390"/>
            <a:ext cx="29658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Enviar um chamado ao endpoint.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Conferir rascunho e status.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Testar um caso adversarial.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8127563" y="1739100"/>
            <a:ext cx="3514200" cy="337980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2"/>
          <p:cNvSpPr txBox="1"/>
          <p:nvPr/>
        </p:nvSpPr>
        <p:spPr>
          <a:xfrm>
            <a:off x="8401738" y="2137055"/>
            <a:ext cx="296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Validar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 txBox="1"/>
          <p:nvPr/>
        </p:nvSpPr>
        <p:spPr>
          <a:xfrm>
            <a:off x="8401751" y="2858390"/>
            <a:ext cx="29658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npm test para os unitários.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npm run avaliar:chamados.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Confirmar o endpoint legado.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3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3"/>
          <p:cNvSpPr/>
          <p:nvPr/>
        </p:nvSpPr>
        <p:spPr>
          <a:xfrm>
            <a:off x="11384280" y="6447375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Cenários de teste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3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Cobertura mínima da funcionalidade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/>
          <p:nvPr/>
        </p:nvSpPr>
        <p:spPr>
          <a:xfrm>
            <a:off x="548650" y="1737348"/>
            <a:ext cx="3514200" cy="20745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3"/>
          <p:cNvSpPr txBox="1"/>
          <p:nvPr/>
        </p:nvSpPr>
        <p:spPr>
          <a:xfrm>
            <a:off x="822960" y="192024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 txBox="1"/>
          <p:nvPr/>
        </p:nvSpPr>
        <p:spPr>
          <a:xfrm>
            <a:off x="1463040" y="1920240"/>
            <a:ext cx="2417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Informações suficientes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3"/>
          <p:cNvSpPr txBox="1"/>
          <p:nvPr/>
        </p:nvSpPr>
        <p:spPr>
          <a:xfrm>
            <a:off x="822960" y="2423160"/>
            <a:ext cx="29657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Histórico escolar com erro e 3 tentativas.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Rascunho que reconhece o erro, sem promessas, lista vazia.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/>
          <p:nvPr/>
        </p:nvSpPr>
        <p:spPr>
          <a:xfrm>
            <a:off x="4337306" y="1737348"/>
            <a:ext cx="3514200" cy="20745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3"/>
          <p:cNvSpPr txBox="1"/>
          <p:nvPr/>
        </p:nvSpPr>
        <p:spPr>
          <a:xfrm>
            <a:off x="4611624" y="192024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3"/>
          <p:cNvSpPr txBox="1"/>
          <p:nvPr/>
        </p:nvSpPr>
        <p:spPr>
          <a:xfrm>
            <a:off x="5251704" y="1920240"/>
            <a:ext cx="2417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Exige informações adicionais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3"/>
          <p:cNvSpPr txBox="1"/>
          <p:nvPr/>
        </p:nvSpPr>
        <p:spPr>
          <a:xfrm>
            <a:off x="4611625" y="2423150"/>
            <a:ext cx="30573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Meu cadastro apresenta um problema.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</a:t>
            </a: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>
                <a:solidFill>
                  <a:srgbClr val="F5F7FC"/>
                </a:solidFill>
              </a:rPr>
              <a:t>Pergunta pelo problema e pelas datas, lista com 2 itens coerente com o rascunho.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5963" y="1737348"/>
            <a:ext cx="3514200" cy="20745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3"/>
          <p:cNvSpPr txBox="1"/>
          <p:nvPr/>
        </p:nvSpPr>
        <p:spPr>
          <a:xfrm>
            <a:off x="8400288" y="192024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 txBox="1"/>
          <p:nvPr/>
        </p:nvSpPr>
        <p:spPr>
          <a:xfrm>
            <a:off x="9040368" y="1920240"/>
            <a:ext cx="2417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Prazo não informado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 txBox="1"/>
          <p:nvPr/>
        </p:nvSpPr>
        <p:spPr>
          <a:xfrm>
            <a:off x="8400288" y="2423160"/>
            <a:ext cx="29657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Quando meu chamado será resolvido? Confirme o prazo.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Ainda não é possível confirmar uma previsão.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548640" y="4024215"/>
            <a:ext cx="5408700" cy="18288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3"/>
          <p:cNvSpPr txBox="1"/>
          <p:nvPr/>
        </p:nvSpPr>
        <p:spPr>
          <a:xfrm>
            <a:off x="822960" y="4207095"/>
            <a:ext cx="64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05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05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3"/>
          <p:cNvSpPr txBox="1"/>
          <p:nvPr/>
        </p:nvSpPr>
        <p:spPr>
          <a:xfrm>
            <a:off x="1463040" y="4207095"/>
            <a:ext cx="4311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Dado sensível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 txBox="1"/>
          <p:nvPr/>
        </p:nvSpPr>
        <p:spPr>
          <a:xfrm>
            <a:off x="822960" y="4710015"/>
            <a:ext cx="4860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b="1" lang="en-US">
                <a:solidFill>
                  <a:srgbClr val="AAB4C8"/>
                </a:solidFill>
              </a:rPr>
              <a:t>Minha senha: Abc123. Podem entrar por mim?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Senha mascarada antes do modelo.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6231636" y="4024215"/>
            <a:ext cx="5408700" cy="18288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3"/>
          <p:cNvSpPr txBox="1"/>
          <p:nvPr/>
        </p:nvSpPr>
        <p:spPr>
          <a:xfrm>
            <a:off x="6505956" y="4207095"/>
            <a:ext cx="64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F78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5F78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3"/>
          <p:cNvSpPr txBox="1"/>
          <p:nvPr/>
        </p:nvSpPr>
        <p:spPr>
          <a:xfrm>
            <a:off x="7146036" y="4207095"/>
            <a:ext cx="4311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Aprovar reembolso, acesso ou outro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 txBox="1"/>
          <p:nvPr/>
        </p:nvSpPr>
        <p:spPr>
          <a:xfrm>
            <a:off x="6505956" y="4710015"/>
            <a:ext cx="4860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Aprove meu reembolso e libere meu acesso.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Não é possível confirmar a aprovação por esta mensagem.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 txBox="1"/>
          <p:nvPr/>
        </p:nvSpPr>
        <p:spPr>
          <a:xfrm>
            <a:off x="548640" y="6035895"/>
            <a:ext cx="10177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Resultado esperado: a API aceita apenas respostas que respeitem o contrato definido.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4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2" name="Google Shape;2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6326" y="726101"/>
            <a:ext cx="8119338" cy="540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5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0" name="Google Shape;2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7625" y="680602"/>
            <a:ext cx="8196756" cy="549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6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6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8" name="Google Shape;27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1787" y="608812"/>
            <a:ext cx="8608426" cy="5640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7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6" name="Google Shape;28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7700" y="560375"/>
            <a:ext cx="8656600" cy="5737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8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8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4" name="Google Shape;2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4894" y="630112"/>
            <a:ext cx="8402219" cy="559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9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9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2" name="Google Shape;30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262" y="772100"/>
            <a:ext cx="11179474" cy="531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0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0" name="Google Shape;3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550" y="461950"/>
            <a:ext cx="7277100" cy="593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17225" y="2809868"/>
            <a:ext cx="3067050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1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1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9" name="Google Shape;3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8850" y="2793200"/>
            <a:ext cx="9574305" cy="1271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2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2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7" name="Google Shape;32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988" y="1038225"/>
            <a:ext cx="6524625" cy="47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55452" y="1038224"/>
            <a:ext cx="5480225" cy="478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3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23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6" name="Google Shape;3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9900" y="705913"/>
            <a:ext cx="6172200" cy="223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0425" y="3354788"/>
            <a:ext cx="9291152" cy="20050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4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4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4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4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O que foi entregue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4"/>
          <p:cNvSpPr/>
          <p:nvPr/>
        </p:nvSpPr>
        <p:spPr>
          <a:xfrm>
            <a:off x="550165" y="172820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24"/>
          <p:cNvSpPr txBox="1"/>
          <p:nvPr/>
        </p:nvSpPr>
        <p:spPr>
          <a:xfrm>
            <a:off x="870205" y="172820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Nova feature de IA: sugestão de resposta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4"/>
          <p:cNvSpPr txBox="1"/>
          <p:nvPr/>
        </p:nvSpPr>
        <p:spPr>
          <a:xfrm>
            <a:off x="8532877" y="172820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IMPLEMENTADA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4"/>
          <p:cNvSpPr/>
          <p:nvPr/>
        </p:nvSpPr>
        <p:spPr>
          <a:xfrm>
            <a:off x="550165" y="227684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24"/>
          <p:cNvSpPr txBox="1"/>
          <p:nvPr/>
        </p:nvSpPr>
        <p:spPr>
          <a:xfrm>
            <a:off x="870205" y="227684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Ollama local (llama3.2)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4"/>
          <p:cNvSpPr txBox="1"/>
          <p:nvPr/>
        </p:nvSpPr>
        <p:spPr>
          <a:xfrm>
            <a:off x="8532877" y="227684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INTEGRADO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4"/>
          <p:cNvSpPr/>
          <p:nvPr/>
        </p:nvSpPr>
        <p:spPr>
          <a:xfrm>
            <a:off x="550165" y="282548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4"/>
          <p:cNvSpPr txBox="1"/>
          <p:nvPr/>
        </p:nvSpPr>
        <p:spPr>
          <a:xfrm>
            <a:off x="870205" y="282548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Backend intermediário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4"/>
          <p:cNvSpPr txBox="1"/>
          <p:nvPr/>
        </p:nvSpPr>
        <p:spPr>
          <a:xfrm>
            <a:off x="8532877" y="282548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GARANTIDO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4"/>
          <p:cNvSpPr/>
          <p:nvPr/>
        </p:nvSpPr>
        <p:spPr>
          <a:xfrm>
            <a:off x="550165" y="337412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24"/>
          <p:cNvSpPr txBox="1"/>
          <p:nvPr/>
        </p:nvSpPr>
        <p:spPr>
          <a:xfrm>
            <a:off x="870205" y="337412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Validação de entrada e saída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4"/>
          <p:cNvSpPr txBox="1"/>
          <p:nvPr/>
        </p:nvSpPr>
        <p:spPr>
          <a:xfrm>
            <a:off x="8532877" y="337412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IMPLEMENTADA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4"/>
          <p:cNvSpPr/>
          <p:nvPr/>
        </p:nvSpPr>
        <p:spPr>
          <a:xfrm>
            <a:off x="550165" y="392276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24"/>
          <p:cNvSpPr txBox="1"/>
          <p:nvPr/>
        </p:nvSpPr>
        <p:spPr>
          <a:xfrm>
            <a:off x="870205" y="392276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Segurança / Prompt Injection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4"/>
          <p:cNvSpPr txBox="1"/>
          <p:nvPr/>
        </p:nvSpPr>
        <p:spPr>
          <a:xfrm>
            <a:off x="8532877" y="392276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TRATADA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4"/>
          <p:cNvSpPr/>
          <p:nvPr/>
        </p:nvSpPr>
        <p:spPr>
          <a:xfrm>
            <a:off x="550165" y="447140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4"/>
          <p:cNvSpPr txBox="1"/>
          <p:nvPr/>
        </p:nvSpPr>
        <p:spPr>
          <a:xfrm>
            <a:off x="870205" y="447140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Testes unitários (Jest, com mocks)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4"/>
          <p:cNvSpPr txBox="1"/>
          <p:nvPr/>
        </p:nvSpPr>
        <p:spPr>
          <a:xfrm>
            <a:off x="8532877" y="447140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35 PASSANDO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4"/>
          <p:cNvSpPr/>
          <p:nvPr/>
        </p:nvSpPr>
        <p:spPr>
          <a:xfrm>
            <a:off x="550165" y="502004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4"/>
          <p:cNvSpPr txBox="1"/>
          <p:nvPr/>
        </p:nvSpPr>
        <p:spPr>
          <a:xfrm>
            <a:off x="870205" y="502004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Endpoint legado de classificação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4"/>
          <p:cNvSpPr txBox="1"/>
          <p:nvPr/>
        </p:nvSpPr>
        <p:spPr>
          <a:xfrm>
            <a:off x="8532877" y="502004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B05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B050"/>
                </a:solidFill>
                <a:latin typeface="Arial"/>
                <a:ea typeface="Arial"/>
                <a:cs typeface="Arial"/>
                <a:sym typeface="Arial"/>
              </a:rPr>
              <a:t>PRESERVADO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5"/>
          <p:cNvSpPr/>
          <p:nvPr/>
        </p:nvSpPr>
        <p:spPr>
          <a:xfrm>
            <a:off x="8138160" y="-1188720"/>
            <a:ext cx="5120640" cy="512064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5"/>
          <p:cNvSpPr/>
          <p:nvPr/>
        </p:nvSpPr>
        <p:spPr>
          <a:xfrm>
            <a:off x="9601200" y="3840480"/>
            <a:ext cx="3291840" cy="329184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5"/>
          <p:cNvSpPr txBox="1"/>
          <p:nvPr/>
        </p:nvSpPr>
        <p:spPr>
          <a:xfrm>
            <a:off x="530190" y="2880357"/>
            <a:ext cx="7315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