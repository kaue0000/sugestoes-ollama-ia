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a feature: a partir do chamado do solicitante, o backend pede a um LLM local (Ollama) um rascunho de resposta, que sempre passa por revisão humana.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sistema já classifica chamados. O próximo passo é ajudar o atendente a responder, sem tirar dele a decisão.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Fluxo em três etapas: validar a entrada, analisar com o modelo local e validar a saída antes de responder.</a:t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frontend só conhece o backend. A URL do Ollama e o modelo vêm de variáveis de ambiente (.env). O CORS do backend aceita apenas o frontend local.</a:t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Entrada mínima: só o campo texto. A saída sempre traz status RASCUNHO e revisaoHumanaObrigatoria true. Falhas viram 400, 502, 503 ou 504.</a:t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defesa tem camadas: entrada, mascaramento, prompt, e principalmente a validação da saída no backend, que não depende de o modelo obedecer.</a:t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feature entrou no mesmo módulo de chamados, reaproveitando o provider de IA. O único ajuste no código existente foi um campo opcional (format) no provider.</a:t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testes unitários usam mocks do provider, então rodam sem IA. A avaliação com Ollama real existe para a classificação (8 casos) e gera resultado-avaliacao.json.</a:t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2f80896dcc491fda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h2f80896dcc491fda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sugerido de 7 passos. Os chamados de exemplo estão nos testes e no prompt.</a:t>
            </a:r>
            <a:endParaRPr/>
          </a:p>
        </p:txBody>
      </p:sp>
      <p:sp>
        <p:nvSpPr>
          <p:cNvPr id="203" name="Google Shape;203;h2f80896dcc491fda_0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cenário corresponde a testes reais do projeto (chamados.service.spec e sugestao-resposta.service.spec) ou a exemplos do prompt.</a:t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Requer Ollama com o modelo llama3.2 instalado. As variáveis OLLAMA_BASE_URL, OLLAMA_MODEL e OLLAMA_TIMEOUT_MS ficam no .env (modelo em .env.example).</a:t>
            </a:r>
            <a:endParaRPr/>
          </a:p>
        </p:txBody>
      </p:sp>
      <p:sp>
        <p:nvSpPr>
          <p:cNvPr id="241" name="Google Shape;2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2f80896dcc491fda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h2f80896dcc491fda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sugerido de 7 passos. Os chamados de exemplo estão nos testes e no prompt.</a:t>
            </a:r>
            <a:endParaRPr/>
          </a:p>
        </p:txBody>
      </p:sp>
      <p:sp>
        <p:nvSpPr>
          <p:cNvPr id="262" name="Google Shape;262;h2f80896dcc491fda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2f80896dcc491fda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h2f80896dcc491fda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sugerido de 7 passos. Os chamados de exemplo estão nos testes e no prompt.</a:t>
            </a:r>
            <a:endParaRPr/>
          </a:p>
        </p:txBody>
      </p:sp>
      <p:sp>
        <p:nvSpPr>
          <p:cNvPr id="270" name="Google Shape;270;h2f80896dcc491fda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h2f80896dcc491fda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h2f80896dcc491fda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sugerido de 7 passos. Os chamados de exemplo estão nos testes e no prompt.</a:t>
            </a:r>
            <a:endParaRPr/>
          </a:p>
        </p:txBody>
      </p:sp>
      <p:sp>
        <p:nvSpPr>
          <p:cNvPr id="278" name="Google Shape;278;h2f80896dcc491fda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2f80896dcc491fda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h2f80896dcc491fda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sugerido de 7 passos. Os chamados de exemplo estão nos testes e no prompt.</a:t>
            </a:r>
            <a:endParaRPr/>
          </a:p>
        </p:txBody>
      </p:sp>
      <p:sp>
        <p:nvSpPr>
          <p:cNvPr id="286" name="Google Shape;286;h2f80896dcc491fda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2f80896dcc491fda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h2f80896dcc491fda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sugerido de 7 passos. Os chamados de exemplo estão nos testes e no prompt.</a:t>
            </a:r>
            <a:endParaRPr/>
          </a:p>
        </p:txBody>
      </p:sp>
      <p:sp>
        <p:nvSpPr>
          <p:cNvPr id="294" name="Google Shape;294;h2f80896dcc491fda_0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2f80896dcc491fda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h2f80896dcc491fda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sugerido de 7 passos. Os chamados de exemplo estão nos testes e no prompt.</a:t>
            </a:r>
            <a:endParaRPr/>
          </a:p>
        </p:txBody>
      </p:sp>
      <p:sp>
        <p:nvSpPr>
          <p:cNvPr id="302" name="Google Shape;302;h2f80896dcc491fda_0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2f80896dcc491fda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h2f80896dcc491fda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sugerido de 7 passos. Os chamados de exemplo estão nos testes e no prompt.</a:t>
            </a:r>
            <a:endParaRPr/>
          </a:p>
        </p:txBody>
      </p:sp>
      <p:sp>
        <p:nvSpPr>
          <p:cNvPr id="310" name="Google Shape;310;h2f80896dcc491fda_0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h2f80896dcc491fda_0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h2f80896dcc491fda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sugerido de 7 passos. Os chamados de exemplo estão nos testes e no prompt.</a:t>
            </a:r>
            <a:endParaRPr/>
          </a:p>
        </p:txBody>
      </p:sp>
      <p:sp>
        <p:nvSpPr>
          <p:cNvPr id="319" name="Google Shape;319;h2f80896dcc491fda_0_1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h2f80896dcc491fda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h2f80896dcc491fda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sugerido de 7 passos. Os chamados de exemplo estão nos testes e no prompt.</a:t>
            </a:r>
            <a:endParaRPr/>
          </a:p>
        </p:txBody>
      </p:sp>
      <p:sp>
        <p:nvSpPr>
          <p:cNvPr id="327" name="Google Shape;327;h2f80896dcc491fda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2f80896dcc491fda_0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h2f80896dcc491fda_0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sugerido de 7 passos. Os chamados de exemplo estão nos testes e no prompt.</a:t>
            </a:r>
            <a:endParaRPr/>
          </a:p>
        </p:txBody>
      </p:sp>
      <p:sp>
        <p:nvSpPr>
          <p:cNvPr id="336" name="Google Shape;336;h2f80896dcc491fda_0_1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2 testes que falham hoje são asserções antigas em sugestao-resposta.prompt.spec.ts, que não acompanham o prompt reescrito. Corrigir antes de apresentar, se possível.</a:t>
            </a:r>
            <a:endParaRPr/>
          </a:p>
        </p:txBody>
      </p:sp>
      <p:sp>
        <p:nvSpPr>
          <p:cNvPr id="345" name="Google Shape;34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Fechar reforçando: a IA sugere, o humano decide.</a:t>
            </a:r>
            <a:endParaRPr/>
          </a:p>
        </p:txBody>
      </p:sp>
      <p:sp>
        <p:nvSpPr>
          <p:cNvPr id="375" name="Google Shape;37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138160" y="-1188720"/>
            <a:ext cx="5120640" cy="512064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601200" y="3840480"/>
            <a:ext cx="3291840" cy="329184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ENCONTRO 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48640" y="137160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Evolução do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Atendimento com IA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548640" y="3246120"/>
            <a:ext cx="6217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Uma nova funcionalidade com LLM local, segurança e testes automatizados.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4434840"/>
            <a:ext cx="6035040" cy="1325880"/>
          </a:xfrm>
          <a:prstGeom prst="roundRect">
            <a:avLst>
              <a:gd fmla="val 1379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868680" y="46177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FEATURE IMPLEMENTADA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868680" y="489204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Sugestão de resposta ao chamado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868680" y="5349240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AAB4C8"/>
                </a:solidFill>
              </a:rPr>
              <a:t>Kauê Adriano</a:t>
            </a:r>
            <a:r>
              <a:rPr b="0" i="0" lang="en-US" sz="13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1100">
                <a:solidFill>
                  <a:srgbClr val="FCFCFC"/>
                </a:solidFill>
              </a:rPr>
              <a:t>Rônald Willy</a:t>
            </a:r>
            <a:r>
              <a:rPr b="0" i="0" lang="en-US" sz="13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  |  </a:t>
            </a:r>
            <a:r>
              <a:rPr lang="en-US" sz="1300">
                <a:solidFill>
                  <a:srgbClr val="AAB4C8"/>
                </a:solidFill>
              </a:rPr>
              <a:t>TSI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 desafio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Por que evoluir o sistema existente?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1737360"/>
            <a:ext cx="5440680" cy="4206240"/>
          </a:xfrm>
          <a:prstGeom prst="roundRect">
            <a:avLst>
              <a:gd fmla="val 4348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Cenário atual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914400" y="260604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 sistema já classifica chamados em 5 categorias: Acesso, Financeiro, Matrícula, Documentos e Outros.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Cada resposta ao solicitante ainda é escrita do zero pelo atendente.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Chamados chegam longos, incompletos ou com pedidos indevidos.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Senhas, tokens e códigos podem aparecer no texto enviado.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199632" y="1737360"/>
            <a:ext cx="5440680" cy="4206240"/>
          </a:xfrm>
          <a:prstGeom prst="roundRect">
            <a:avLst>
              <a:gd fmla="val 4348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Oportunidade com 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6565392" y="260604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Gerar um rascunho de resposta com um LLM local (Ollama).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 texto do chamado não sai da infraestrutura local.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 atendente continua revisando antes de enviar.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Evoluir sem quebrar o endpoint legado de classificação.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Nossa solução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Uma feature independente, integrada ao backend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48640" y="1737360"/>
            <a:ext cx="3108960" cy="868680"/>
          </a:xfrm>
          <a:prstGeom prst="roundRect">
            <a:avLst>
              <a:gd fmla="val 2105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 txBox="1"/>
          <p:nvPr/>
        </p:nvSpPr>
        <p:spPr>
          <a:xfrm>
            <a:off x="548640" y="173736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Chamado do usuário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3657600" y="1737360"/>
            <a:ext cx="8823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539996" y="1737360"/>
            <a:ext cx="3108960" cy="868680"/>
          </a:xfrm>
          <a:prstGeom prst="roundRect">
            <a:avLst>
              <a:gd fmla="val 2105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 txBox="1"/>
          <p:nvPr/>
        </p:nvSpPr>
        <p:spPr>
          <a:xfrm>
            <a:off x="4539996" y="173736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Backend (NestJS)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7648956" y="1737360"/>
            <a:ext cx="8823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531352" y="1737360"/>
            <a:ext cx="3108960" cy="868680"/>
          </a:xfrm>
          <a:prstGeom prst="roundRect">
            <a:avLst>
              <a:gd fmla="val 2105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 txBox="1"/>
          <p:nvPr/>
        </p:nvSpPr>
        <p:spPr>
          <a:xfrm>
            <a:off x="8531352" y="173736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Ollama + LLM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2926080"/>
            <a:ext cx="3514344" cy="3063240"/>
          </a:xfrm>
          <a:prstGeom prst="roundRect">
            <a:avLst>
              <a:gd fmla="val 597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 txBox="1"/>
          <p:nvPr/>
        </p:nvSpPr>
        <p:spPr>
          <a:xfrm>
            <a:off x="822960" y="315468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1  Validar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822960" y="3703320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Texto de 10 a 2000 caracteres; campos extras são recusados.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Senhas, tokens e códigos são mascarados antes do modelo.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 chamado vai delimitado por &lt;chamado&gt;.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337304" y="2926080"/>
            <a:ext cx="3514344" cy="3063240"/>
          </a:xfrm>
          <a:prstGeom prst="roundRect">
            <a:avLst>
              <a:gd fmla="val 597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4611624" y="315468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2  Analisar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4611624" y="3703320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llama3.2 executa localmente via Ollama.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Saída solicitada em formato JSON.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Regras e exemplos do prompt ficam só no backend.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125968" y="2926080"/>
            <a:ext cx="3514344" cy="3063240"/>
          </a:xfrm>
          <a:prstGeom prst="roundRect">
            <a:avLst>
              <a:gd fmla="val 597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8400288" y="315468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3  Responder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8400288" y="3703320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Valida o JSON e o conteúdo do rascunho.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Bloqueia promessas, aprovações, credenciais e links.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Entrega só o contrato: status RASCUNHO.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Arquitetura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O cliente nunca chama o Ollama diretamente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48640" y="1737360"/>
            <a:ext cx="3108960" cy="1234440"/>
          </a:xfrm>
          <a:prstGeom prst="roundRect">
            <a:avLst>
              <a:gd fmla="val 14815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548640" y="18745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548640" y="21762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Frontend Angular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548640" y="260604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AB4C8"/>
                </a:solidFill>
                <a:latin typeface="Courier New"/>
                <a:ea typeface="Courier New"/>
                <a:cs typeface="Courier New"/>
                <a:sym typeface="Courier New"/>
              </a:rPr>
              <a:t>localhost:4200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3657600" y="1737360"/>
            <a:ext cx="88239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539996" y="1737360"/>
            <a:ext cx="3108960" cy="1234440"/>
          </a:xfrm>
          <a:prstGeom prst="roundRect">
            <a:avLst>
              <a:gd fmla="val 14815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4539996" y="18745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BACKEND /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4539996" y="21762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NestJS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4539996" y="260604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AB4C8"/>
                </a:solidFill>
                <a:latin typeface="Courier New"/>
                <a:ea typeface="Courier New"/>
                <a:cs typeface="Courier New"/>
                <a:sym typeface="Courier New"/>
              </a:rPr>
              <a:t>localhost:3000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7648956" y="1737360"/>
            <a:ext cx="88239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8531352" y="1737360"/>
            <a:ext cx="3108960" cy="1234440"/>
          </a:xfrm>
          <a:prstGeom prst="roundRect">
            <a:avLst>
              <a:gd fmla="val 14815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 txBox="1"/>
          <p:nvPr/>
        </p:nvSpPr>
        <p:spPr>
          <a:xfrm>
            <a:off x="8531352" y="18745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OLLAMA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8531352" y="21762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llama3.2:latest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8531352" y="260604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AB4C8"/>
                </a:solidFill>
                <a:latin typeface="Courier New"/>
                <a:ea typeface="Courier New"/>
                <a:cs typeface="Courier New"/>
                <a:sym typeface="Courier New"/>
              </a:rPr>
              <a:t>localhost:11434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3291840"/>
            <a:ext cx="3514344" cy="2697480"/>
          </a:xfrm>
          <a:prstGeom prst="roundRect">
            <a:avLst>
              <a:gd fmla="val 678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822960" y="352044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822960" y="4023360"/>
            <a:ext cx="296570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Chat que exibe o rascunho e o status.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Lista as informações adicionais necessárias.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Mensagens de erro por tipo de falha.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337304" y="3291840"/>
            <a:ext cx="3514344" cy="2697480"/>
          </a:xfrm>
          <a:prstGeom prst="roundRect">
            <a:avLst>
              <a:gd fmla="val 678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4611624" y="352044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4611624" y="4023360"/>
            <a:ext cx="296570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Controller → Service → ModeloProvider.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Guards, prompts e validação de saída.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CORS restrito ao frontend local.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125968" y="3291840"/>
            <a:ext cx="3514344" cy="2697480"/>
          </a:xfrm>
          <a:prstGeom prst="roundRect">
            <a:avLst>
              <a:gd fmla="val 678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8400288" y="352044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Ollama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8400288" y="4023360"/>
            <a:ext cx="296570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LLM executada localmente (/api/chat).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Timeout configurável (padrão 30 s).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Sem acesso direto do cliente.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Contrato da API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Exemplo de requisição e resposta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48640" y="1737360"/>
            <a:ext cx="4480560" cy="2606040"/>
          </a:xfrm>
          <a:prstGeom prst="roundRect">
            <a:avLst>
              <a:gd fmla="val 7018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 txBox="1"/>
          <p:nvPr/>
        </p:nvSpPr>
        <p:spPr>
          <a:xfrm>
            <a:off x="822960" y="19202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POST /chamados/sugerir-resposta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822960" y="2331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822960" y="2697480"/>
            <a:ext cx="4023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"texto"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50DC9B"/>
                </a:solidFill>
                <a:latin typeface="Courier New"/>
                <a:ea typeface="Courier New"/>
                <a:cs typeface="Courier New"/>
                <a:sym typeface="Courier New"/>
              </a:rPr>
              <a:t>"Não consigo acessar o portal."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330952" y="1737360"/>
            <a:ext cx="6309360" cy="2606040"/>
          </a:xfrm>
          <a:prstGeom prst="roundRect">
            <a:avLst>
              <a:gd fmla="val 7018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 txBox="1"/>
          <p:nvPr/>
        </p:nvSpPr>
        <p:spPr>
          <a:xfrm>
            <a:off x="5605272" y="1920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50DC9B"/>
                </a:solidFill>
                <a:latin typeface="Courier New"/>
                <a:ea typeface="Courier New"/>
                <a:cs typeface="Courier New"/>
                <a:sym typeface="Courier New"/>
              </a:rPr>
              <a:t>Resposta 200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5605272" y="2331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Saída validada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5605272" y="2697480"/>
            <a:ext cx="5852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"texto"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50DC9B"/>
                </a:solidFill>
                <a:latin typeface="Courier New"/>
                <a:ea typeface="Courier New"/>
                <a:cs typeface="Courier New"/>
                <a:sym typeface="Courier New"/>
              </a:rPr>
              <a:t>"Não consigo acessar o portal."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"rascunho"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50DC9B"/>
                </a:solidFill>
                <a:latin typeface="Courier New"/>
                <a:ea typeface="Courier New"/>
                <a:cs typeface="Courier New"/>
                <a:sym typeface="Courier New"/>
              </a:rPr>
              <a:t>"Olá. Reconhecemos a dificuldade de acesso."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"informacoesAdicionais"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: [],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"revisaoHumanaObrigatoria"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FFB05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"modelo"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50DC9B"/>
                </a:solidFill>
                <a:latin typeface="Courier New"/>
                <a:ea typeface="Courier New"/>
                <a:cs typeface="Courier New"/>
                <a:sym typeface="Courier New"/>
              </a:rPr>
              <a:t>"llama3.2:latest"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"status"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50DC9B"/>
                </a:solidFill>
                <a:latin typeface="Courier New"/>
                <a:ea typeface="Courier New"/>
                <a:cs typeface="Courier New"/>
                <a:sym typeface="Courier New"/>
              </a:rPr>
              <a:t>"RASCUNHO"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Falhas tratadas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48640" y="5120640"/>
            <a:ext cx="2567178" cy="685800"/>
          </a:xfrm>
          <a:prstGeom prst="roundRect">
            <a:avLst>
              <a:gd fmla="val 26667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548640" y="5120640"/>
            <a:ext cx="25671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50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B050"/>
                </a:solidFill>
                <a:latin typeface="Courier New"/>
                <a:ea typeface="Courier New"/>
                <a:cs typeface="Courier New"/>
                <a:sym typeface="Courier New"/>
              </a:rPr>
              <a:t>400  </a:t>
            </a: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entrada inválida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390138" y="5120640"/>
            <a:ext cx="2567178" cy="685800"/>
          </a:xfrm>
          <a:prstGeom prst="roundRect">
            <a:avLst>
              <a:gd fmla="val 26667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 txBox="1"/>
          <p:nvPr/>
        </p:nvSpPr>
        <p:spPr>
          <a:xfrm>
            <a:off x="3390138" y="5120640"/>
            <a:ext cx="25671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F78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5F78"/>
                </a:solidFill>
                <a:latin typeface="Courier New"/>
                <a:ea typeface="Courier New"/>
                <a:cs typeface="Courier New"/>
                <a:sym typeface="Courier New"/>
              </a:rPr>
              <a:t>502  </a:t>
            </a: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saída rejeitada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231636" y="5120640"/>
            <a:ext cx="2567178" cy="685800"/>
          </a:xfrm>
          <a:prstGeom prst="roundRect">
            <a:avLst>
              <a:gd fmla="val 26667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6231636" y="5120640"/>
            <a:ext cx="25671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9B6EFF"/>
                </a:solidFill>
                <a:latin typeface="Courier New"/>
                <a:ea typeface="Courier New"/>
                <a:cs typeface="Courier New"/>
                <a:sym typeface="Courier New"/>
              </a:rPr>
              <a:t>503  </a:t>
            </a: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IA indisponível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9073134" y="5120640"/>
            <a:ext cx="2567178" cy="685800"/>
          </a:xfrm>
          <a:prstGeom prst="roundRect">
            <a:avLst>
              <a:gd fmla="val 26667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9073134" y="5120640"/>
            <a:ext cx="25671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504  </a:t>
            </a: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tempo esgotado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Segurança por design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A saída da IA é tratada como conteúdo não confiável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10972800" y="5669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48640" y="1691640"/>
            <a:ext cx="11091672" cy="749808"/>
          </a:xfrm>
          <a:prstGeom prst="roundRect">
            <a:avLst>
              <a:gd fmla="val 2439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777240" y="1847088"/>
            <a:ext cx="438912" cy="438912"/>
          </a:xfrm>
          <a:prstGeom prst="roundRect">
            <a:avLst>
              <a:gd fmla="val 20833" name="adj"/>
            </a:avLst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777240" y="184708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1463040" y="1691640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Validação de entrada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4572000" y="1691640"/>
            <a:ext cx="6793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DTO exige 10 a 2000 caracteres; campos desconhecidos são recusados (whitelist).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48640" y="2542032"/>
            <a:ext cx="11091672" cy="749808"/>
          </a:xfrm>
          <a:prstGeom prst="roundRect">
            <a:avLst>
              <a:gd fmla="val 2439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777240" y="2697480"/>
            <a:ext cx="438912" cy="438912"/>
          </a:xfrm>
          <a:prstGeom prst="roundRect">
            <a:avLst>
              <a:gd fmla="val 20833" name="adj"/>
            </a:avLst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777240" y="269748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1463040" y="2542032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Dados sensíveis mascarados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4572000" y="2542032"/>
            <a:ext cx="6793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Senha, token e códigos viram [DADO SENSÍVEL OMITIDO] antes de chegar ao modelo.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548640" y="3392424"/>
            <a:ext cx="11091672" cy="749808"/>
          </a:xfrm>
          <a:prstGeom prst="roundRect">
            <a:avLst>
              <a:gd fmla="val 2439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777240" y="3547872"/>
            <a:ext cx="438912" cy="438912"/>
          </a:xfrm>
          <a:prstGeom prst="roundRect">
            <a:avLst>
              <a:gd fmla="val 20833" name="adj"/>
            </a:avLst>
          </a:prstGeom>
          <a:solidFill>
            <a:srgbClr val="50DC9B"/>
          </a:solidFill>
          <a:ln cap="flat" cmpd="sng" w="12700">
            <a:solidFill>
              <a:srgbClr val="50DC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777240" y="354787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1463040" y="3392424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System prompt protegido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4572000" y="3392424"/>
            <a:ext cx="6793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Regras e exemplos ficam no backend; o cliente envia apenas o texto do chamado.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48640" y="4242816"/>
            <a:ext cx="11091672" cy="749808"/>
          </a:xfrm>
          <a:prstGeom prst="roundRect">
            <a:avLst>
              <a:gd fmla="val 2439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777240" y="4398264"/>
            <a:ext cx="438912" cy="438912"/>
          </a:xfrm>
          <a:prstGeom prst="roundRect">
            <a:avLst>
              <a:gd fmla="val 20833" name="adj"/>
            </a:avLst>
          </a:prstGeom>
          <a:solidFill>
            <a:srgbClr val="FFB050"/>
          </a:solidFill>
          <a:ln cap="flat" cmpd="sng" w="12700">
            <a:solidFill>
              <a:srgbClr val="FF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777240" y="43982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1463040" y="4242816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Prompt Injection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572000" y="4242816"/>
            <a:ext cx="6793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Chamado delimitado como dado não confiável; tags de fechamento são removidas do texto.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48640" y="5093208"/>
            <a:ext cx="11091672" cy="749808"/>
          </a:xfrm>
          <a:prstGeom prst="roundRect">
            <a:avLst>
              <a:gd fmla="val 2439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777240" y="5248656"/>
            <a:ext cx="438912" cy="438912"/>
          </a:xfrm>
          <a:prstGeom prst="roundRect">
            <a:avLst>
              <a:gd fmla="val 20833" name="adj"/>
            </a:avLst>
          </a:prstGeom>
          <a:solidFill>
            <a:srgbClr val="FF5F78"/>
          </a:solidFill>
          <a:ln cap="flat" cmpd="sng" w="12700">
            <a:solidFill>
              <a:srgbClr val="FF5F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 txBox="1"/>
          <p:nvPr/>
        </p:nvSpPr>
        <p:spPr>
          <a:xfrm>
            <a:off x="777240" y="524865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1463040" y="5093208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Validação da saída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4572000" y="5093208"/>
            <a:ext cx="6793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JSON estrito, máx. 3 informações, revisão humana; bloqueia prazo, aprovação, credencial e link.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Independência e legado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Adicionar sem quebrar o que já funciona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548640" y="16916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6199632" y="16916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DEPOIS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48640" y="2011680"/>
            <a:ext cx="5440680" cy="777240"/>
          </a:xfrm>
          <a:prstGeom prst="roundRect">
            <a:avLst>
              <a:gd fmla="val 23529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548640" y="2011680"/>
            <a:ext cx="5440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Chamado  →  Classificação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199632" y="2011680"/>
            <a:ext cx="5440680" cy="777240"/>
          </a:xfrm>
          <a:prstGeom prst="roundRect">
            <a:avLst>
              <a:gd fmla="val 23529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6199632" y="2011680"/>
            <a:ext cx="5440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Chamado  →  Classificação  +  Sugestão de resposta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6199632" y="2926080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↳ /chamados/classificar continua funcionando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48640" y="3520440"/>
            <a:ext cx="3514344" cy="2468880"/>
          </a:xfrm>
          <a:prstGeom prst="roundRect">
            <a:avLst>
              <a:gd fmla="val 7407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822960" y="374904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Sem dependências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822960" y="4297680"/>
            <a:ext cx="296570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Rota própria: /chamados/sugerir-resposta.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Prompt, DTO e validações em arquivos novos.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337304" y="3520440"/>
            <a:ext cx="3514344" cy="2468880"/>
          </a:xfrm>
          <a:prstGeom prst="roundRect">
            <a:avLst>
              <a:gd fmla="val 7407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4611624" y="374904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Mudança mínima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4611624" y="4297680"/>
            <a:ext cx="296570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Provider ganhou só o campo opcional format.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Reaproveita módulo e provider de IA.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8125968" y="3520440"/>
            <a:ext cx="3514344" cy="2468880"/>
          </a:xfrm>
          <a:prstGeom prst="roundRect">
            <a:avLst>
              <a:gd fmla="val 7407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8400288" y="374904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Legado preservado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8400288" y="4297680"/>
            <a:ext cx="296570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Classificação e /ia/responder intactos.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Testes da classificação seguem passando.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Testes automatizados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Do código isolado ao modelo real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548640" y="1737360"/>
            <a:ext cx="5440680" cy="3611880"/>
          </a:xfrm>
          <a:prstGeom prst="roundRect">
            <a:avLst>
              <a:gd fmla="val 506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Testes unitários (Jest)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914400" y="2560320"/>
            <a:ext cx="47548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Mocks do provider: nenhuma IA real é chamada.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35 testes passando nos serviços e prompts.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Saídas válidas e inválidas do modelo simuladas.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Regras testadas: prazo, aprovação, credencial, link, JSON inválido e limite de 3 itens.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199632" y="1737360"/>
            <a:ext cx="5440680" cy="3611880"/>
          </a:xfrm>
          <a:prstGeom prst="roundRect">
            <a:avLst>
              <a:gd fmla="val 506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 txBox="1"/>
          <p:nvPr/>
        </p:nvSpPr>
        <p:spPr>
          <a:xfrm>
            <a:off x="6565392" y="19659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Avaliação com Ollama real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6565392" y="2560320"/>
            <a:ext cx="47548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Comando: npm run avaliar:chamados.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8 casos: normal, fronteira, ausência e adversarial.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Mede acurácia e conformidade de formato.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Salva o relatório em resultado-avaliacao.json.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548640" y="5669280"/>
            <a:ext cx="101772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Objetivo: garantir comportamento previsível mesmo diante de respostas inesperadas do modelo.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/>
          <p:nvPr/>
        </p:nvSpPr>
        <p:spPr>
          <a:xfrm>
            <a:off x="10789920" y="-274320"/>
            <a:ext cx="640200" cy="64020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11430130" y="6176700"/>
            <a:ext cx="640200" cy="64020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100" y="678243"/>
            <a:ext cx="11279795" cy="5501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Cenários de teste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Cobertura mínima da funcionalidade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548640" y="1737360"/>
            <a:ext cx="3514344" cy="1828800"/>
          </a:xfrm>
          <a:prstGeom prst="roundRect">
            <a:avLst>
              <a:gd fmla="val 1000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 txBox="1"/>
          <p:nvPr/>
        </p:nvSpPr>
        <p:spPr>
          <a:xfrm>
            <a:off x="822960" y="19202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1463040" y="1920240"/>
            <a:ext cx="2417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Caso normal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822960" y="2423160"/>
            <a:ext cx="2965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Entrada: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Chamado com informação suficiente.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Esperado: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Rascunho gerado, lista de informações vazia.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4337304" y="1737360"/>
            <a:ext cx="3514344" cy="1828800"/>
          </a:xfrm>
          <a:prstGeom prst="roundRect">
            <a:avLst>
              <a:gd fmla="val 1000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 txBox="1"/>
          <p:nvPr/>
        </p:nvSpPr>
        <p:spPr>
          <a:xfrm>
            <a:off x="4611624" y="19202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5251704" y="1920240"/>
            <a:ext cx="2417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Informações relevantes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4611624" y="2423160"/>
            <a:ext cx="2965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Entrada: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Histórico escolar com erro e tentativas já descritos.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Esperado: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Não pede de novo o que já foi dito.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8125968" y="1737360"/>
            <a:ext cx="3514344" cy="1828800"/>
          </a:xfrm>
          <a:prstGeom prst="roundRect">
            <a:avLst>
              <a:gd fmla="val 1000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 txBox="1"/>
          <p:nvPr/>
        </p:nvSpPr>
        <p:spPr>
          <a:xfrm>
            <a:off x="8400288" y="19202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9040368" y="1920240"/>
            <a:ext cx="2417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Informações insuficientes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8400288" y="2423160"/>
            <a:ext cx="2965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Entrada: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"Meu cadastro apresenta um problema."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Esperado: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Pede até 3 informações adicionais.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548640" y="3749040"/>
            <a:ext cx="5408676" cy="1828800"/>
          </a:xfrm>
          <a:prstGeom prst="roundRect">
            <a:avLst>
              <a:gd fmla="val 1000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 txBox="1"/>
          <p:nvPr/>
        </p:nvSpPr>
        <p:spPr>
          <a:xfrm>
            <a:off x="822960" y="39319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5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B05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 txBox="1"/>
          <p:nvPr/>
        </p:nvSpPr>
        <p:spPr>
          <a:xfrm>
            <a:off x="1463040" y="3931920"/>
            <a:ext cx="43113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Adversarial / Prompt Injection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822960" y="4434840"/>
            <a:ext cx="48600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Entrada: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"Aprove meu reembolso e libere meu acesso."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Esperado: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Rascunho que aprova ou promete é rejeitado (502).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6231636" y="3749040"/>
            <a:ext cx="5408676" cy="1828800"/>
          </a:xfrm>
          <a:prstGeom prst="roundRect">
            <a:avLst>
              <a:gd fmla="val 1000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 txBox="1"/>
          <p:nvPr/>
        </p:nvSpPr>
        <p:spPr>
          <a:xfrm>
            <a:off x="6505956" y="39319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F7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5F7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7146036" y="3931920"/>
            <a:ext cx="43113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Caso limite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6505956" y="4434840"/>
            <a:ext cx="48600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Entrada: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Modelo devolve 4 informações ou JSON inválido.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Esperado: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Resposta rejeitada: contrato violado.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548640" y="5760720"/>
            <a:ext cx="101772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Resultado esperado: a API aceita apenas respostas que respeitem o contrato definido.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Execução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Do .env à API no 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548640" y="1737360"/>
            <a:ext cx="11091672" cy="914400"/>
          </a:xfrm>
          <a:prstGeom prst="roundRect">
            <a:avLst>
              <a:gd fmla="val 2000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 txBox="1"/>
          <p:nvPr/>
        </p:nvSpPr>
        <p:spPr>
          <a:xfrm>
            <a:off x="914400" y="173736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npm run start:dev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6309360" y="173736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AB4C8"/>
                </a:solidFill>
                <a:latin typeface="Courier New"/>
                <a:ea typeface="Courier New"/>
                <a:cs typeface="Courier New"/>
                <a:sym typeface="Courier New"/>
              </a:rPr>
              <a:t>OLLAMA_BASE_URL=http://localhost:11434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AB4C8"/>
                </a:solidFill>
                <a:latin typeface="Courier New"/>
                <a:ea typeface="Courier New"/>
                <a:cs typeface="Courier New"/>
                <a:sym typeface="Courier New"/>
              </a:rPr>
              <a:t>OLLAMA_MODEL=llama3.2:latest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548640" y="2926080"/>
            <a:ext cx="3514344" cy="3063240"/>
          </a:xfrm>
          <a:prstGeom prst="roundRect">
            <a:avLst>
              <a:gd fmla="val 597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 txBox="1"/>
          <p:nvPr/>
        </p:nvSpPr>
        <p:spPr>
          <a:xfrm>
            <a:off x="822960" y="315468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1  Subir ambiente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822960" y="3749040"/>
            <a:ext cx="2965704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Ollama com llama3.2 ativo.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API NestJS em localhost:3000.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Frontend com npm start (:4200).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4337304" y="2926080"/>
            <a:ext cx="3514344" cy="3063240"/>
          </a:xfrm>
          <a:prstGeom prst="roundRect">
            <a:avLst>
              <a:gd fmla="val 597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4611624" y="315468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2  Testar API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4611624" y="3749040"/>
            <a:ext cx="2965704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Enviar um chamado ao endpoint.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Conferir rascunho e status.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Testar um caso adversarial.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8125968" y="2926080"/>
            <a:ext cx="3514344" cy="3063240"/>
          </a:xfrm>
          <a:prstGeom prst="roundRect">
            <a:avLst>
              <a:gd fmla="val 597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 txBox="1"/>
          <p:nvPr/>
        </p:nvSpPr>
        <p:spPr>
          <a:xfrm>
            <a:off x="8400288" y="315468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3  Validar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8400288" y="3749040"/>
            <a:ext cx="2965704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npm test para os unitários.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npm run avaliar:chamados.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Confirmar o endpoint legado.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"/>
          <p:cNvSpPr/>
          <p:nvPr/>
        </p:nvSpPr>
        <p:spPr>
          <a:xfrm>
            <a:off x="10789920" y="-274320"/>
            <a:ext cx="640200" cy="64020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11384280" y="6172200"/>
            <a:ext cx="640200" cy="64020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6326" y="726101"/>
            <a:ext cx="8119338" cy="540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"/>
          <p:cNvSpPr/>
          <p:nvPr/>
        </p:nvSpPr>
        <p:spPr>
          <a:xfrm>
            <a:off x="10789920" y="-274320"/>
            <a:ext cx="640200" cy="64020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"/>
          <p:cNvSpPr/>
          <p:nvPr/>
        </p:nvSpPr>
        <p:spPr>
          <a:xfrm>
            <a:off x="11384280" y="6172200"/>
            <a:ext cx="640200" cy="64020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625" y="680602"/>
            <a:ext cx="8196756" cy="549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"/>
          <p:cNvSpPr/>
          <p:nvPr/>
        </p:nvSpPr>
        <p:spPr>
          <a:xfrm>
            <a:off x="10789920" y="-274320"/>
            <a:ext cx="640200" cy="64020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11384280" y="6172200"/>
            <a:ext cx="640200" cy="64020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787" y="608812"/>
            <a:ext cx="8608426" cy="564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"/>
          <p:cNvSpPr/>
          <p:nvPr/>
        </p:nvSpPr>
        <p:spPr>
          <a:xfrm>
            <a:off x="10789920" y="-274320"/>
            <a:ext cx="640200" cy="64020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"/>
          <p:cNvSpPr/>
          <p:nvPr/>
        </p:nvSpPr>
        <p:spPr>
          <a:xfrm>
            <a:off x="11384280" y="6172200"/>
            <a:ext cx="640200" cy="64020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7700" y="560375"/>
            <a:ext cx="8656600" cy="573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"/>
          <p:cNvSpPr/>
          <p:nvPr/>
        </p:nvSpPr>
        <p:spPr>
          <a:xfrm>
            <a:off x="10789920" y="-274320"/>
            <a:ext cx="640200" cy="64020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8"/>
          <p:cNvSpPr/>
          <p:nvPr/>
        </p:nvSpPr>
        <p:spPr>
          <a:xfrm>
            <a:off x="11384280" y="6172200"/>
            <a:ext cx="640200" cy="64020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894" y="630112"/>
            <a:ext cx="8402219" cy="55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"/>
          <p:cNvSpPr/>
          <p:nvPr/>
        </p:nvSpPr>
        <p:spPr>
          <a:xfrm>
            <a:off x="10789920" y="-274320"/>
            <a:ext cx="640200" cy="64020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11384280" y="6172200"/>
            <a:ext cx="640200" cy="64020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262" y="772100"/>
            <a:ext cx="11179474" cy="53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"/>
          <p:cNvSpPr/>
          <p:nvPr/>
        </p:nvSpPr>
        <p:spPr>
          <a:xfrm>
            <a:off x="10789920" y="-274320"/>
            <a:ext cx="640200" cy="64020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11384280" y="6172200"/>
            <a:ext cx="640200" cy="64020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550" y="461950"/>
            <a:ext cx="7277100" cy="593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7225" y="2809868"/>
            <a:ext cx="306705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"/>
          <p:cNvSpPr/>
          <p:nvPr/>
        </p:nvSpPr>
        <p:spPr>
          <a:xfrm>
            <a:off x="10789920" y="-274320"/>
            <a:ext cx="640200" cy="64020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11384280" y="6172200"/>
            <a:ext cx="640200" cy="64020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8850" y="2793200"/>
            <a:ext cx="9574305" cy="1271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"/>
          <p:cNvSpPr/>
          <p:nvPr/>
        </p:nvSpPr>
        <p:spPr>
          <a:xfrm>
            <a:off x="10789920" y="-274320"/>
            <a:ext cx="640200" cy="64020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11384280" y="6172200"/>
            <a:ext cx="640200" cy="64020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988" y="1038225"/>
            <a:ext cx="6524625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5452" y="1038224"/>
            <a:ext cx="5480225" cy="47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/>
          <p:nvPr/>
        </p:nvSpPr>
        <p:spPr>
          <a:xfrm>
            <a:off x="10789920" y="-274320"/>
            <a:ext cx="640200" cy="64020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11384280" y="6172200"/>
            <a:ext cx="640200" cy="64020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0" name="Google Shape;3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9900" y="705913"/>
            <a:ext cx="617220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0425" y="3354788"/>
            <a:ext cx="9291152" cy="2005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4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4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O que foi entregue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550165" y="1728203"/>
            <a:ext cx="11091600" cy="475500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4"/>
          <p:cNvSpPr txBox="1"/>
          <p:nvPr/>
        </p:nvSpPr>
        <p:spPr>
          <a:xfrm>
            <a:off x="870205" y="1728203"/>
            <a:ext cx="7315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Nova feature de IA: sugestão de resposta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 txBox="1"/>
          <p:nvPr/>
        </p:nvSpPr>
        <p:spPr>
          <a:xfrm>
            <a:off x="8532877" y="1728203"/>
            <a:ext cx="278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IMPLEMENTADA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550165" y="2276843"/>
            <a:ext cx="11091600" cy="475500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4"/>
          <p:cNvSpPr txBox="1"/>
          <p:nvPr/>
        </p:nvSpPr>
        <p:spPr>
          <a:xfrm>
            <a:off x="870205" y="2276843"/>
            <a:ext cx="7315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Ollama local (llama3.2)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4"/>
          <p:cNvSpPr txBox="1"/>
          <p:nvPr/>
        </p:nvSpPr>
        <p:spPr>
          <a:xfrm>
            <a:off x="8532877" y="2276843"/>
            <a:ext cx="278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INTEGRADO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550165" y="2825483"/>
            <a:ext cx="11091600" cy="475500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4"/>
          <p:cNvSpPr txBox="1"/>
          <p:nvPr/>
        </p:nvSpPr>
        <p:spPr>
          <a:xfrm>
            <a:off x="870205" y="2825483"/>
            <a:ext cx="7315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Backend intermediário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4"/>
          <p:cNvSpPr txBox="1"/>
          <p:nvPr/>
        </p:nvSpPr>
        <p:spPr>
          <a:xfrm>
            <a:off x="8532877" y="2825483"/>
            <a:ext cx="278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GARANTIDO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550165" y="3374123"/>
            <a:ext cx="11091600" cy="475500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4"/>
          <p:cNvSpPr txBox="1"/>
          <p:nvPr/>
        </p:nvSpPr>
        <p:spPr>
          <a:xfrm>
            <a:off x="870205" y="3374123"/>
            <a:ext cx="7315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Validação de entrada e saída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 txBox="1"/>
          <p:nvPr/>
        </p:nvSpPr>
        <p:spPr>
          <a:xfrm>
            <a:off x="8532877" y="3374123"/>
            <a:ext cx="278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IMPLEMENTADA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550165" y="3922763"/>
            <a:ext cx="11091600" cy="475500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4"/>
          <p:cNvSpPr txBox="1"/>
          <p:nvPr/>
        </p:nvSpPr>
        <p:spPr>
          <a:xfrm>
            <a:off x="870205" y="3922763"/>
            <a:ext cx="7315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Segurança / Prompt Injection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8532877" y="3922763"/>
            <a:ext cx="278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TRATADA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550165" y="4471403"/>
            <a:ext cx="11091600" cy="475500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4"/>
          <p:cNvSpPr txBox="1"/>
          <p:nvPr/>
        </p:nvSpPr>
        <p:spPr>
          <a:xfrm>
            <a:off x="870205" y="4471403"/>
            <a:ext cx="7315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Testes unitários (Jest, com mocks)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 txBox="1"/>
          <p:nvPr/>
        </p:nvSpPr>
        <p:spPr>
          <a:xfrm>
            <a:off x="8532877" y="4471403"/>
            <a:ext cx="278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35 PASSANDO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550165" y="5020043"/>
            <a:ext cx="11091600" cy="475500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4"/>
          <p:cNvSpPr txBox="1"/>
          <p:nvPr/>
        </p:nvSpPr>
        <p:spPr>
          <a:xfrm>
            <a:off x="870205" y="5020043"/>
            <a:ext cx="7315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Endpoint legado de classificação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4"/>
          <p:cNvSpPr txBox="1"/>
          <p:nvPr/>
        </p:nvSpPr>
        <p:spPr>
          <a:xfrm>
            <a:off x="8532877" y="5020043"/>
            <a:ext cx="278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B0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B050"/>
                </a:solidFill>
                <a:latin typeface="Arial"/>
                <a:ea typeface="Arial"/>
                <a:cs typeface="Arial"/>
                <a:sym typeface="Arial"/>
              </a:rPr>
              <a:t>PRESERVADO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5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5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5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5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IA aplicada de forma segura, isolada e testável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5"/>
          <p:cNvSpPr txBox="1"/>
          <p:nvPr/>
        </p:nvSpPr>
        <p:spPr>
          <a:xfrm>
            <a:off x="548640" y="17830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A nova funcionalidade amplia o sistema de atendimento sem substituir o julgamento humano.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5"/>
          <p:cNvSpPr/>
          <p:nvPr/>
        </p:nvSpPr>
        <p:spPr>
          <a:xfrm>
            <a:off x="548640" y="2926080"/>
            <a:ext cx="2567178" cy="2926080"/>
          </a:xfrm>
          <a:prstGeom prst="roundRect">
            <a:avLst>
              <a:gd fmla="val 7124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868680" y="3246120"/>
            <a:ext cx="868680" cy="8686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4" name="Google Shape;3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3474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5"/>
          <p:cNvSpPr txBox="1"/>
          <p:nvPr/>
        </p:nvSpPr>
        <p:spPr>
          <a:xfrm>
            <a:off x="868680" y="4389120"/>
            <a:ext cx="20185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IA local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868680" y="4846320"/>
            <a:ext cx="20185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LLM via Ollama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5"/>
          <p:cNvSpPr/>
          <p:nvPr/>
        </p:nvSpPr>
        <p:spPr>
          <a:xfrm>
            <a:off x="3390138" y="2926080"/>
            <a:ext cx="2567178" cy="2926080"/>
          </a:xfrm>
          <a:prstGeom prst="roundRect">
            <a:avLst>
              <a:gd fmla="val 7124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3710178" y="3246120"/>
            <a:ext cx="868680" cy="8686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9" name="Google Shape;38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8778" y="3474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5"/>
          <p:cNvSpPr txBox="1"/>
          <p:nvPr/>
        </p:nvSpPr>
        <p:spPr>
          <a:xfrm>
            <a:off x="3710178" y="4389120"/>
            <a:ext cx="20185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Segurança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5"/>
          <p:cNvSpPr txBox="1"/>
          <p:nvPr/>
        </p:nvSpPr>
        <p:spPr>
          <a:xfrm>
            <a:off x="3710178" y="4846320"/>
            <a:ext cx="20185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Guards e validação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5"/>
          <p:cNvSpPr/>
          <p:nvPr/>
        </p:nvSpPr>
        <p:spPr>
          <a:xfrm>
            <a:off x="6231636" y="2926080"/>
            <a:ext cx="2567178" cy="2926080"/>
          </a:xfrm>
          <a:prstGeom prst="roundRect">
            <a:avLst>
              <a:gd fmla="val 7124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6551676" y="3246120"/>
            <a:ext cx="868680" cy="868680"/>
          </a:xfrm>
          <a:prstGeom prst="ellipse">
            <a:avLst/>
          </a:prstGeom>
          <a:solidFill>
            <a:srgbClr val="50DC9B"/>
          </a:solidFill>
          <a:ln cap="flat" cmpd="sng" w="12700">
            <a:solidFill>
              <a:srgbClr val="50DC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4" name="Google Shape;39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0276" y="3474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5"/>
          <p:cNvSpPr txBox="1"/>
          <p:nvPr/>
        </p:nvSpPr>
        <p:spPr>
          <a:xfrm>
            <a:off x="6551676" y="4389120"/>
            <a:ext cx="20185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Testes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5"/>
          <p:cNvSpPr txBox="1"/>
          <p:nvPr/>
        </p:nvSpPr>
        <p:spPr>
          <a:xfrm>
            <a:off x="6551676" y="4846320"/>
            <a:ext cx="20185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35 unitários + avaliação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5"/>
          <p:cNvSpPr/>
          <p:nvPr/>
        </p:nvSpPr>
        <p:spPr>
          <a:xfrm>
            <a:off x="9073134" y="2926080"/>
            <a:ext cx="2567178" cy="2926080"/>
          </a:xfrm>
          <a:prstGeom prst="roundRect">
            <a:avLst>
              <a:gd fmla="val 7124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5"/>
          <p:cNvSpPr/>
          <p:nvPr/>
        </p:nvSpPr>
        <p:spPr>
          <a:xfrm>
            <a:off x="9393174" y="3246120"/>
            <a:ext cx="868680" cy="868680"/>
          </a:xfrm>
          <a:prstGeom prst="ellipse">
            <a:avLst/>
          </a:prstGeom>
          <a:solidFill>
            <a:srgbClr val="FFB050"/>
          </a:solidFill>
          <a:ln cap="flat" cmpd="sng" w="12700">
            <a:solidFill>
              <a:srgbClr val="FF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9" name="Google Shape;39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1774" y="3474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5"/>
          <p:cNvSpPr txBox="1"/>
          <p:nvPr/>
        </p:nvSpPr>
        <p:spPr>
          <a:xfrm>
            <a:off x="9393174" y="4389120"/>
            <a:ext cx="20185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Legado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5"/>
          <p:cNvSpPr txBox="1"/>
          <p:nvPr/>
        </p:nvSpPr>
        <p:spPr>
          <a:xfrm>
            <a:off x="9393174" y="4846320"/>
            <a:ext cx="20185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Sem quebra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6"/>
          <p:cNvSpPr/>
          <p:nvPr/>
        </p:nvSpPr>
        <p:spPr>
          <a:xfrm>
            <a:off x="8138160" y="-1188720"/>
            <a:ext cx="5120640" cy="512064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6"/>
          <p:cNvSpPr/>
          <p:nvPr/>
        </p:nvSpPr>
        <p:spPr>
          <a:xfrm>
            <a:off x="9601200" y="3840480"/>
            <a:ext cx="3291840" cy="329184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6"/>
          <p:cNvSpPr txBox="1"/>
          <p:nvPr/>
        </p:nvSpPr>
        <p:spPr>
          <a:xfrm>
            <a:off x="530190" y="2880357"/>
            <a:ext cx="731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